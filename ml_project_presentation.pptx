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79" r:id="rId7"/>
    <p:sldId id="262" r:id="rId8"/>
    <p:sldId id="290" r:id="rId9"/>
    <p:sldId id="291" r:id="rId10"/>
    <p:sldId id="286" r:id="rId11"/>
    <p:sldId id="287" r:id="rId12"/>
    <p:sldId id="280" r:id="rId13"/>
    <p:sldId id="288" r:id="rId14"/>
    <p:sldId id="289" r:id="rId15"/>
    <p:sldId id="292"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0T12:55:58.981"/>
    </inkml:context>
    <inkml:brush xml:id="br0">
      <inkml:brushProperty name="width" value="0.035" units="cm"/>
      <inkml:brushProperty name="height" value="0.03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69920366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     Snehal Mundhe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Education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t>Intelligent Classification of Rural Infrastructure Projects</a:t>
            </a:r>
            <a:r>
              <a:rPr lang="en-US" sz="2400" b="1" dirty="0">
                <a:highlight>
                  <a:srgbClr val="FFFF00"/>
                </a:highlight>
              </a:rPr>
              <a: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99005" y="1090788"/>
            <a:ext cx="11357834" cy="4370427"/>
          </a:xfrm>
          <a:prstGeom prst="rect">
            <a:avLst/>
          </a:prstGeom>
          <a:noFill/>
        </p:spPr>
        <p:txBody>
          <a:bodyPr wrap="square" lIns="91440" tIns="45720" rIns="91440" bIns="45720" rtlCol="0" anchor="t">
            <a:spAutoFit/>
          </a:bodyPr>
          <a:lstStyle/>
          <a:p>
            <a:r>
              <a:rPr lang="en-US" sz="2000" b="1" dirty="0"/>
              <a:t>Problem statement 35 - Intelligent Classification of Rural Infrastructure Projects</a:t>
            </a:r>
          </a:p>
          <a:p>
            <a:endParaRPr lang="en-US" sz="2000" b="1" dirty="0"/>
          </a:p>
          <a:p>
            <a:r>
              <a:rPr lang="en-US" sz="2000" dirty="0"/>
              <a:t>The Pradhan Mantri Gram Sadak Yojana (PMGSY) is a flagship rural development</a:t>
            </a:r>
          </a:p>
          <a:p>
            <a:r>
              <a:rPr lang="en-US" sz="2000" dirty="0"/>
              <a:t>program in India, initiated to provide all-weather road connectivity to eligible</a:t>
            </a:r>
          </a:p>
          <a:p>
            <a:r>
              <a:rPr lang="en-US" sz="2000" dirty="0"/>
              <a:t>unconnected habitations. Over the years, the program has evolved through different</a:t>
            </a:r>
          </a:p>
          <a:p>
            <a:r>
              <a:rPr lang="en-US" sz="2000" dirty="0"/>
              <a:t>phases or schemes (PMGSY-I, PMGSY-II, RCPLWEA, etc.), each with potentially</a:t>
            </a:r>
          </a:p>
          <a:p>
            <a:r>
              <a:rPr lang="en-US" sz="2000" dirty="0"/>
              <a:t>distinct objectives, funding mechanisms, and project specifications.</a:t>
            </a:r>
          </a:p>
          <a:p>
            <a:r>
              <a:rPr lang="en-US" sz="2000" dirty="0"/>
              <a:t>For government bodies, infrastructure planners, and policy analysts, efficiently</a:t>
            </a:r>
          </a:p>
          <a:p>
            <a:r>
              <a:rPr lang="en-US" sz="2000" dirty="0"/>
              <a:t>categorizing thousands of ongoing and completed projects is crucial for effective</a:t>
            </a:r>
          </a:p>
          <a:p>
            <a:r>
              <a:rPr lang="en-US" sz="2000" dirty="0"/>
              <a:t>monitoring, transparent budget allocation, and assessing the long-term impact of these</a:t>
            </a:r>
          </a:p>
          <a:p>
            <a:r>
              <a:rPr lang="en-US" sz="2000" dirty="0"/>
              <a:t>schemes. Manual classification is time-consuming, prone to errors, and scales poorly.</a:t>
            </a:r>
          </a:p>
          <a:p>
            <a:r>
              <a:rPr lang="en-US" sz="2000" dirty="0"/>
              <a:t>Your specific task is to design, build, and evaluate a machine learning model that can</a:t>
            </a:r>
          </a:p>
          <a:p>
            <a:r>
              <a:rPr lang="en-US" sz="2000" dirty="0"/>
              <a:t>automatically classify a road or bridge construction project into its correct</a:t>
            </a:r>
          </a:p>
          <a:p>
            <a:r>
              <a:rPr lang="en-US" sz="2000" dirty="0"/>
              <a:t>PMGSY_SCHEME based on its physical and financial characteristics.</a:t>
            </a:r>
            <a:endParaRPr lang="en-IN" sz="20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158538" y="771868"/>
            <a:ext cx="11131336" cy="5883085"/>
          </a:xfrm>
          <a:prstGeom prst="rect">
            <a:avLst/>
          </a:prstGeom>
          <a:noFill/>
        </p:spPr>
        <p:txBody>
          <a:bodyPr wrap="square" lIns="91440" tIns="45720" rIns="91440" bIns="45720" rtlCol="0" anchor="t">
            <a:spAutoFit/>
          </a:bodyPr>
          <a:lstStyle/>
          <a:p>
            <a:r>
              <a:rPr lang="en-IN" sz="2000" b="1" dirty="0"/>
              <a:t>(IBM watsonx.ai Studio – </a:t>
            </a:r>
            <a:r>
              <a:rPr lang="en-IN" sz="2000" b="1" dirty="0" err="1"/>
              <a:t>AutoAI</a:t>
            </a:r>
            <a:r>
              <a:rPr lang="en-IN" sz="2000" b="1" dirty="0"/>
              <a:t>):</a:t>
            </a:r>
          </a:p>
          <a:p>
            <a:endParaRPr lang="en-IN" sz="2000" dirty="0"/>
          </a:p>
          <a:p>
            <a:r>
              <a:rPr lang="en-IN" sz="2000" dirty="0"/>
              <a:t>We propose an AI-powered Rural Infrastructure Project Classification System using IBM watsonx.ai Studio and </a:t>
            </a:r>
            <a:r>
              <a:rPr lang="en-IN" sz="2000" dirty="0" err="1"/>
              <a:t>AutoAI</a:t>
            </a:r>
            <a:r>
              <a:rPr lang="en-IN" sz="2000" dirty="0"/>
              <a:t>.</a:t>
            </a:r>
          </a:p>
          <a:p>
            <a:r>
              <a:rPr lang="en-IN" sz="2000" dirty="0"/>
              <a:t>Project information such as road length, bridge length, project cost, project duration, state, district, terrain type, funding details, construction type, and other physical and financial characteristics will be collected and uploaded into watsonx.ai.</a:t>
            </a:r>
          </a:p>
          <a:p>
            <a:r>
              <a:rPr lang="en-IN" sz="2000" dirty="0" err="1"/>
              <a:t>AutoAI</a:t>
            </a:r>
            <a:r>
              <a:rPr lang="en-IN" sz="2000" dirty="0"/>
              <a:t> will automatically perform data preprocessing, feature engineering, algorithm selection, and hyperparameter optimization.</a:t>
            </a:r>
          </a:p>
          <a:p>
            <a:r>
              <a:rPr lang="en-IN" sz="2000" dirty="0"/>
              <a:t>Multiple machine learning classification models will be generated and evaluated to identify the best-performing model for PMGSY scheme prediction.</a:t>
            </a:r>
          </a:p>
          <a:p>
            <a:r>
              <a:rPr lang="en-IN" sz="2000" dirty="0"/>
              <a:t>The selected model will accurately classify infrastructure projects into appropriate PMGSY schemes such as PMGSY-I, PMGSY-II, PMGSY-III, RCPLWEA, and other available schemes.</a:t>
            </a:r>
          </a:p>
          <a:p>
            <a:r>
              <a:rPr lang="en-IN" sz="2000" dirty="0"/>
              <a:t>The proposed system will support government departments in automating project classification, improving monitoring efficiency, ensuring transparent budget allocation, and enabling faster infrastructure planning and decision-making.</a:t>
            </a:r>
          </a:p>
          <a:p>
            <a:pPr fontAlgn="base">
              <a:lnSpc>
                <a:spcPct val="150000"/>
              </a:lnSpc>
            </a:pPr>
            <a:br>
              <a:rPr lang="en-US" sz="2000" dirty="0"/>
            </a:br>
            <a:r>
              <a:rPr lang="en-US" sz="2000" dirty="0"/>
              <a:t> </a:t>
            </a:r>
          </a:p>
        </p:txBody>
      </p:sp>
      <p:sp>
        <p:nvSpPr>
          <p:cNvPr id="3" name="TextBox 2">
            <a:extLst>
              <a:ext uri="{FF2B5EF4-FFF2-40B4-BE49-F238E27FC236}">
                <a16:creationId xmlns:a16="http://schemas.microsoft.com/office/drawing/2014/main" id="{527F30CC-07EF-8FCC-DA00-C9212F5DAECE}"/>
              </a:ext>
            </a:extLst>
          </p:cNvPr>
          <p:cNvSpPr txBox="1"/>
          <p:nvPr/>
        </p:nvSpPr>
        <p:spPr>
          <a:xfrm>
            <a:off x="158538" y="203047"/>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68875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688750" y="1148014"/>
            <a:ext cx="10515600" cy="5786199"/>
          </a:xfrm>
          <a:prstGeom prst="rect">
            <a:avLst/>
          </a:prstGeom>
          <a:noFill/>
        </p:spPr>
        <p:txBody>
          <a:bodyPr wrap="square" lIns="91440" tIns="45720" rIns="91440" bIns="45720" rtlCol="0" anchor="t">
            <a:spAutoFit/>
          </a:bodyPr>
          <a:lstStyle/>
          <a:p>
            <a:endParaRPr lang="en-US" sz="1800" dirty="0"/>
          </a:p>
          <a:p>
            <a:r>
              <a:rPr lang="en-IN" sz="1800" b="1" dirty="0"/>
              <a:t>IBM Cloud</a:t>
            </a:r>
            <a:r>
              <a:rPr lang="en-IN" sz="1800" dirty="0"/>
              <a:t> – It provides the infrastructure to build, train, deploy, and scale the Rural Infrastructure Project Classification System efficiently. IBM Cloud offers a secure and reliable environment for developing machine learning solutions.</a:t>
            </a:r>
          </a:p>
          <a:p>
            <a:r>
              <a:rPr lang="en-IN" sz="1800" b="1" dirty="0"/>
              <a:t>IBM watsonx.ai Studio</a:t>
            </a:r>
            <a:r>
              <a:rPr lang="en-IN" sz="1800" dirty="0"/>
              <a:t> – Used to build the machine learning model using </a:t>
            </a:r>
            <a:r>
              <a:rPr lang="en-IN" sz="1800" dirty="0" err="1"/>
              <a:t>AutoAI</a:t>
            </a:r>
            <a:r>
              <a:rPr lang="en-IN" sz="1800" dirty="0"/>
              <a:t>. It automatically performs data preprocessing, feature engineering, model selection, hyperparameter tuning, and evaluation to identify the best-performing classification model.</a:t>
            </a:r>
          </a:p>
          <a:p>
            <a:r>
              <a:rPr lang="en-IN" sz="1800" b="1" dirty="0"/>
              <a:t>Programming Language:</a:t>
            </a:r>
            <a:r>
              <a:rPr lang="en-IN" sz="1800" dirty="0"/>
              <a:t> Python</a:t>
            </a:r>
          </a:p>
          <a:p>
            <a:r>
              <a:rPr lang="en-IN" sz="1800" b="1" dirty="0"/>
              <a:t>Machine Learning Platform:</a:t>
            </a:r>
            <a:r>
              <a:rPr lang="en-IN" sz="1800" dirty="0"/>
              <a:t> IBM watsonx.ai </a:t>
            </a:r>
            <a:r>
              <a:rPr lang="en-IN" sz="1800" dirty="0" err="1"/>
              <a:t>AutoAI</a:t>
            </a:r>
            <a:endParaRPr lang="en-IN" sz="1800" dirty="0"/>
          </a:p>
          <a:p>
            <a:r>
              <a:rPr lang="en-IN" sz="1800" b="1" dirty="0"/>
              <a:t>Data Processing Libraries:</a:t>
            </a:r>
            <a:r>
              <a:rPr lang="en-IN" sz="1800" dirty="0"/>
              <a:t> Pandas, NumPy</a:t>
            </a:r>
          </a:p>
          <a:p>
            <a:r>
              <a:rPr lang="en-IN" sz="1800" b="1" dirty="0"/>
              <a:t>Data Visualization:</a:t>
            </a:r>
            <a:r>
              <a:rPr lang="en-IN" sz="1800" dirty="0"/>
              <a:t> Matplotlib</a:t>
            </a:r>
          </a:p>
          <a:p>
            <a:r>
              <a:rPr lang="en-IN" sz="1800" b="1" dirty="0"/>
              <a:t>ML Algorithm / Model Used:</a:t>
            </a:r>
            <a:r>
              <a:rPr lang="en-IN" sz="1800" dirty="0"/>
              <a:t> </a:t>
            </a:r>
            <a:r>
              <a:rPr lang="en-IN" sz="1800" dirty="0" err="1"/>
              <a:t>XGBoost</a:t>
            </a:r>
            <a:r>
              <a:rPr lang="en-IN" sz="1800" dirty="0"/>
              <a:t> Classifier </a:t>
            </a:r>
            <a:r>
              <a:rPr lang="en-IN" sz="1800" i="1" dirty="0"/>
              <a:t>(or replace with the best model selected by </a:t>
            </a:r>
            <a:r>
              <a:rPr lang="en-IN" sz="1800" i="1" dirty="0" err="1"/>
              <a:t>AutoAI</a:t>
            </a:r>
            <a:r>
              <a:rPr lang="en-IN" sz="1800" i="1" dirty="0"/>
              <a:t>)</a:t>
            </a:r>
            <a:endParaRPr lang="en-IN"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Accuracy Obtained: 98.23%</a:t>
            </a:r>
          </a:p>
          <a:p>
            <a:pPr marL="285750" indent="-285750">
              <a:buFont typeface="Arial" panose="020B0604020202020204" pitchFamily="34" charset="0"/>
              <a:buChar char="•"/>
            </a:pPr>
            <a:r>
              <a:rPr lang="en-US" sz="1800" dirty="0"/>
              <a:t>Enhancements and Hyperparameter tuning: </a:t>
            </a:r>
            <a:r>
              <a:rPr lang="en-IN" sz="1800" dirty="0"/>
              <a:t>Automated data preprocessing, feature engineering, model optimization, and hyperparameter tuning using IBM watsonx.ai </a:t>
            </a:r>
            <a:r>
              <a:rPr lang="en-IN" sz="1800" dirty="0" err="1"/>
              <a:t>AutoAI</a:t>
            </a:r>
            <a:r>
              <a:rPr lang="en-IN" sz="1800" dirty="0"/>
              <a: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a:rPr>
              <a:t>Training Screenshots-</a:t>
            </a:r>
            <a:endParaRPr sz="2400" b="1" dirty="0">
              <a:sym typeface="Times New Roman"/>
            </a:endParaRPr>
          </a:p>
        </p:txBody>
      </p:sp>
      <p:pic>
        <p:nvPicPr>
          <p:cNvPr id="9" name="Picture 8">
            <a:extLst>
              <a:ext uri="{FF2B5EF4-FFF2-40B4-BE49-F238E27FC236}">
                <a16:creationId xmlns:a16="http://schemas.microsoft.com/office/drawing/2014/main" id="{6154ECE0-749B-1AD7-59A8-E3C26BEBF04C}"/>
              </a:ext>
            </a:extLst>
          </p:cNvPr>
          <p:cNvPicPr>
            <a:picLocks noChangeAspect="1"/>
          </p:cNvPicPr>
          <p:nvPr/>
        </p:nvPicPr>
        <p:blipFill>
          <a:blip r:embed="rId3"/>
          <a:srcRect t="7457"/>
          <a:stretch>
            <a:fillRect/>
          </a:stretch>
        </p:blipFill>
        <p:spPr>
          <a:xfrm>
            <a:off x="268795" y="1327355"/>
            <a:ext cx="11654410" cy="505985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Best Model Screenshot:</a:t>
            </a:r>
          </a:p>
        </p:txBody>
      </p:sp>
      <p:pic>
        <p:nvPicPr>
          <p:cNvPr id="6" name="Picture 5">
            <a:extLst>
              <a:ext uri="{FF2B5EF4-FFF2-40B4-BE49-F238E27FC236}">
                <a16:creationId xmlns:a16="http://schemas.microsoft.com/office/drawing/2014/main" id="{0802702A-32ED-5F47-7D47-B6502C049C7E}"/>
              </a:ext>
            </a:extLst>
          </p:cNvPr>
          <p:cNvPicPr>
            <a:picLocks noChangeAspect="1"/>
          </p:cNvPicPr>
          <p:nvPr/>
        </p:nvPicPr>
        <p:blipFill>
          <a:blip r:embed="rId3"/>
          <a:srcRect t="11331"/>
          <a:stretch>
            <a:fillRect/>
          </a:stretch>
        </p:blipFill>
        <p:spPr>
          <a:xfrm>
            <a:off x="855405" y="1582994"/>
            <a:ext cx="10451692" cy="478830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Testing Screenshot:</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FDA5020C-4440-D4DB-D39A-B2F76143720F}"/>
                  </a:ext>
                </a:extLst>
              </p14:cNvPr>
              <p14:cNvContentPartPr/>
              <p14:nvPr/>
            </p14:nvContentPartPr>
            <p14:xfrm>
              <a:off x="1749890" y="2772341"/>
              <a:ext cx="360" cy="360"/>
            </p14:xfrm>
          </p:contentPart>
        </mc:Choice>
        <mc:Fallback>
          <p:pic>
            <p:nvPicPr>
              <p:cNvPr id="3" name="Ink 2">
                <a:extLst>
                  <a:ext uri="{FF2B5EF4-FFF2-40B4-BE49-F238E27FC236}">
                    <a16:creationId xmlns:a16="http://schemas.microsoft.com/office/drawing/2014/main" id="{FDA5020C-4440-D4DB-D39A-B2F76143720F}"/>
                  </a:ext>
                </a:extLst>
              </p:cNvPr>
              <p:cNvPicPr/>
              <p:nvPr/>
            </p:nvPicPr>
            <p:blipFill>
              <a:blip r:embed="rId4"/>
              <a:stretch>
                <a:fillRect/>
              </a:stretch>
            </p:blipFill>
            <p:spPr>
              <a:xfrm>
                <a:off x="1743770" y="2766221"/>
                <a:ext cx="12600" cy="12600"/>
              </a:xfrm>
              <a:prstGeom prst="rect">
                <a:avLst/>
              </a:prstGeom>
            </p:spPr>
          </p:pic>
        </mc:Fallback>
      </mc:AlternateContent>
      <p:pic>
        <p:nvPicPr>
          <p:cNvPr id="5" name="Picture 4">
            <a:extLst>
              <a:ext uri="{FF2B5EF4-FFF2-40B4-BE49-F238E27FC236}">
                <a16:creationId xmlns:a16="http://schemas.microsoft.com/office/drawing/2014/main" id="{E714A6B9-D70D-2A17-7003-A618D48B29F4}"/>
              </a:ext>
            </a:extLst>
          </p:cNvPr>
          <p:cNvPicPr>
            <a:picLocks noChangeAspect="1"/>
          </p:cNvPicPr>
          <p:nvPr/>
        </p:nvPicPr>
        <p:blipFill>
          <a:blip r:embed="rId5"/>
          <a:srcRect l="1012" t="4153" r="-1012" b="-47"/>
          <a:stretch>
            <a:fillRect/>
          </a:stretch>
        </p:blipFill>
        <p:spPr>
          <a:xfrm>
            <a:off x="537590" y="1002890"/>
            <a:ext cx="11654410" cy="5337442"/>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3" name="Picture 2">
            <a:extLst>
              <a:ext uri="{FF2B5EF4-FFF2-40B4-BE49-F238E27FC236}">
                <a16:creationId xmlns:a16="http://schemas.microsoft.com/office/drawing/2014/main" id="{282AF718-E0FE-E09C-85B3-0152CD32F313}"/>
              </a:ext>
            </a:extLst>
          </p:cNvPr>
          <p:cNvPicPr>
            <a:picLocks noChangeAspect="1"/>
          </p:cNvPicPr>
          <p:nvPr/>
        </p:nvPicPr>
        <p:blipFill>
          <a:blip r:embed="rId2"/>
          <a:srcRect t="6678"/>
          <a:stretch>
            <a:fillRect/>
          </a:stretch>
        </p:blipFill>
        <p:spPr>
          <a:xfrm>
            <a:off x="414758" y="1091380"/>
            <a:ext cx="11777241" cy="5248951"/>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893650" cy="4801314"/>
          </a:xfrm>
          <a:prstGeom prst="rect">
            <a:avLst/>
          </a:prstGeom>
          <a:noFill/>
        </p:spPr>
        <p:txBody>
          <a:bodyPr wrap="square" lIns="91440" tIns="45720" rIns="91440" bIns="45720" rtlCol="0" anchor="t">
            <a:spAutoFit/>
          </a:bodyPr>
          <a:lstStyle/>
          <a:p>
            <a:r>
              <a:rPr lang="en-IN" sz="2400" dirty="0"/>
              <a:t>The solution automates the classification of rural road and bridge construction projects into their appropriate PMGSY schemes, significantly reducing manual effort and processing time.</a:t>
            </a:r>
          </a:p>
          <a:p>
            <a:r>
              <a:rPr lang="en-IN" sz="2400" dirty="0"/>
              <a:t>It uses IBM watsonx.ai </a:t>
            </a:r>
            <a:r>
              <a:rPr lang="en-IN" sz="2400" dirty="0" err="1"/>
              <a:t>AutoAI</a:t>
            </a:r>
            <a:r>
              <a:rPr lang="en-IN" sz="2400" dirty="0"/>
              <a:t> to automatically discover the best-performing machine learning model without extensive coding or manual model selection.</a:t>
            </a:r>
          </a:p>
          <a:p>
            <a:r>
              <a:rPr lang="en-IN" sz="2400" dirty="0"/>
              <a:t>The system can accurately classify thousands of infrastructure projects into multiple PMGSY schemes using a single intelligent platform.</a:t>
            </a:r>
          </a:p>
          <a:p>
            <a:r>
              <a:rPr lang="en-IN" sz="2400" dirty="0"/>
              <a:t>Automated feature engineering identifies important physical and financial project characteristics that contribute to accurate classification.</a:t>
            </a:r>
          </a:p>
          <a:p>
            <a:r>
              <a:rPr lang="en-IN" sz="2400" dirty="0"/>
              <a:t>The model ensures consistent, transparent, and unbiased project categorization, minimizing human errors and supporting better infrastructure planning, project monitoring, and budget allocation.</a:t>
            </a:r>
          </a:p>
          <a:p>
            <a:endParaRPr lang="en-IN" sz="1800" b="1"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2000" dirty="0"/>
              <a:t>The system can be integrated with government infrastructure management portals to automate the end-to-end classification of newly sanctioned road and bridge projects.</a:t>
            </a:r>
          </a:p>
          <a:p>
            <a:r>
              <a:rPr lang="en-IN" sz="2000" dirty="0"/>
              <a:t>Additional rural development schemes can be incorporated, enabling a unified AI-based infrastructure project classification platform.</a:t>
            </a:r>
          </a:p>
          <a:p>
            <a:r>
              <a:rPr lang="en-IN" sz="2000" dirty="0"/>
              <a:t>Real-time integration with GIS data, satellite imagery, and government databases can improve project verification, monitoring, and fraud detection.</a:t>
            </a:r>
          </a:p>
          <a:p>
            <a:r>
              <a:rPr lang="en-IN" sz="2000" dirty="0"/>
              <a:t>Advanced machine learning and deep learning models in IBM watsonx.ai can be utilized to continuously improve prediction accuracy as new infrastructure project data becomes available.</a:t>
            </a:r>
          </a:p>
          <a:p>
            <a:r>
              <a:rPr lang="en-IN" sz="2000" dirty="0"/>
              <a:t>The solution can be deployed at a national scale to support faster, transparent, and data-driven decision-making for rural infrastructure planning, monitoring, and policy implementation across India.</a:t>
            </a:r>
          </a:p>
          <a:p>
            <a:pPr marL="0" marR="0" lvl="0" indent="0" algn="l">
              <a:lnSpc>
                <a:spcPct val="150000"/>
              </a:lnSpc>
              <a:spcBef>
                <a:spcPts val="0"/>
              </a:spcBef>
              <a:spcAft>
                <a:spcPts val="0"/>
              </a:spcAft>
              <a:buSzPts val="1850"/>
              <a:buFont typeface="Times New Roman"/>
              <a:buNone/>
            </a:pPr>
            <a:endParaRPr lang="en-US" sz="1850" b="1" dirty="0">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8" name="Picture 7">
            <a:extLst>
              <a:ext uri="{FF2B5EF4-FFF2-40B4-BE49-F238E27FC236}">
                <a16:creationId xmlns:a16="http://schemas.microsoft.com/office/drawing/2014/main" id="{9FFB3851-639B-970A-0D02-D1327889CCB8}"/>
              </a:ext>
            </a:extLst>
          </p:cNvPr>
          <p:cNvPicPr>
            <a:picLocks noChangeAspect="1"/>
          </p:cNvPicPr>
          <p:nvPr/>
        </p:nvPicPr>
        <p:blipFill>
          <a:blip r:embed="rId2"/>
          <a:srcRect b="10722"/>
          <a:stretch>
            <a:fillRect/>
          </a:stretch>
        </p:blipFill>
        <p:spPr>
          <a:xfrm>
            <a:off x="1211102" y="673491"/>
            <a:ext cx="8176969" cy="5104377"/>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3E648E8E-62EA-8EF0-A6C9-212C1FDFA531}"/>
              </a:ext>
            </a:extLst>
          </p:cNvPr>
          <p:cNvPicPr>
            <a:picLocks noChangeAspect="1"/>
          </p:cNvPicPr>
          <p:nvPr/>
        </p:nvPicPr>
        <p:blipFill>
          <a:blip r:embed="rId2"/>
          <a:stretch>
            <a:fillRect/>
          </a:stretch>
        </p:blipFill>
        <p:spPr>
          <a:xfrm>
            <a:off x="1248695" y="1200580"/>
            <a:ext cx="8524569" cy="5402534"/>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3F70E9-61C9-E2E6-6F02-4C440ECDA316}"/>
              </a:ext>
            </a:extLst>
          </p:cNvPr>
          <p:cNvPicPr>
            <a:picLocks noChangeAspect="1"/>
          </p:cNvPicPr>
          <p:nvPr/>
        </p:nvPicPr>
        <p:blipFill>
          <a:blip r:embed="rId2"/>
          <a:stretch>
            <a:fillRect/>
          </a:stretch>
        </p:blipFill>
        <p:spPr>
          <a:xfrm>
            <a:off x="487124" y="255639"/>
            <a:ext cx="9791711" cy="6088530"/>
          </a:xfrm>
          <a:prstGeom prst="rect">
            <a:avLst/>
          </a:prstGeom>
        </p:spPr>
      </p:pic>
    </p:spTree>
    <p:extLst>
      <p:ext uri="{BB962C8B-B14F-4D97-AF65-F5344CB8AC3E}">
        <p14:creationId xmlns:p14="http://schemas.microsoft.com/office/powerpoint/2010/main" val="1521153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810</Words>
  <Application>Microsoft Office PowerPoint</Application>
  <PresentationFormat>Widescreen</PresentationFormat>
  <Paragraphs>76</Paragraphs>
  <Slides>16</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Snehal Mundhe</cp:lastModifiedBy>
  <cp:revision>4</cp:revision>
  <dcterms:created xsi:type="dcterms:W3CDTF">2025-07-08T05:06:56Z</dcterms:created>
  <dcterms:modified xsi:type="dcterms:W3CDTF">2026-07-10T12:59:37Z</dcterms:modified>
</cp:coreProperties>
</file>